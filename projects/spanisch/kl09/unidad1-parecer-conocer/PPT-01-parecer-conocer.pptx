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parecer y conocer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Spanisch Klasse 9 | Unidad 1 | Qué pasa 2, S. 18-21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Lernziele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</a:defRPr>
            </a:pPr>
            <a:r>
              <a:t>Mit parecer Meinungen äußern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</a:defRPr>
            </a:pPr>
            <a:r>
              <a:t>conocer konjugieren (yo: conozco)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</a:defRPr>
            </a:pPr>
            <a:r>
              <a:t>Die Regel conocer + a bei Personen anwenden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</a:defRPr>
            </a:pPr>
            <a:r>
              <a:t>Einen Dialog über Personen führen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Einstieg: La familia moderna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</a:defRPr>
            </a:pPr>
            <a:r>
              <a:t>¿Qué veis en la imagen?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</a:defRPr>
            </a:pPr>
            <a:r>
              <a:t>¿Cómo es una familia moderna?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</a:defRPr>
            </a:pPr>
            <a:r>
              <a:t>¿Conocéis familias con hermanastros?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Texto: La nueva familia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</a:defRPr>
            </a:pPr>
            <a:r>
              <a:t>Leed el texto T2 (S. 18)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</a:defRPr>
            </a:pPr>
            <a:r>
              <a:t>Clara habla con sus amigos sobre su nueva familia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</a:defRPr>
            </a:pPr>
            <a:r>
              <a:t>¿De qué hablan?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</a:defRPr>
            </a:pPr>
            <a:r>
              <a:t>  • el carácter de Gonzalo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</a:defRPr>
            </a:pPr>
            <a:r>
              <a:t>  • la habitación compartida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</a:defRPr>
            </a:pPr>
            <a:r>
              <a:t>  • los miembros de la familia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5943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41E3A"/>
                </a:solidFill>
              </a:defRPr>
            </a:pPr>
            <a:r>
              <a:t>→ AB Merkkasten 1+2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Gramática: parecer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10972800" cy="4114800"/>
          </a:xfrm>
          <a:prstGeom prst="round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22222"/>
                </a:solidFill>
              </a:defRPr>
            </a:pPr>
            <a:r>
              <a:t>parecer = scheinen, vorkommen (ich finde...)</a:t>
            </a:r>
          </a:p>
          <a:p>
            <a:pPr>
              <a:spcAft>
                <a:spcPts val="800"/>
              </a:spcAft>
              <a:defRPr sz="2200">
                <a:solidFill>
                  <a:srgbClr val="222222"/>
                </a:solidFill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222222"/>
                </a:solidFill>
              </a:defRPr>
            </a:pPr>
            <a:r>
              <a:t>Konstruktion wie gustar:</a:t>
            </a:r>
          </a:p>
          <a:p>
            <a:pPr>
              <a:spcAft>
                <a:spcPts val="800"/>
              </a:spcAft>
              <a:defRPr sz="2200">
                <a:solidFill>
                  <a:srgbClr val="222222"/>
                </a:solidFill>
              </a:defRPr>
            </a:pPr>
            <a:r>
              <a:t>me/te/le/nos/os/les + parece (Sg.) / parecen (Pl.)</a:t>
            </a:r>
          </a:p>
          <a:p>
            <a:pPr>
              <a:spcAft>
                <a:spcPts val="800"/>
              </a:spcAft>
              <a:defRPr sz="2200">
                <a:solidFill>
                  <a:srgbClr val="222222"/>
                </a:solidFill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222222"/>
                </a:solidFill>
              </a:defRPr>
            </a:pPr>
            <a:r>
              <a:t>Singular: Me parece simpático.</a:t>
            </a:r>
          </a:p>
          <a:p>
            <a:pPr>
              <a:spcAft>
                <a:spcPts val="800"/>
              </a:spcAft>
              <a:defRPr sz="2200">
                <a:solidFill>
                  <a:srgbClr val="222222"/>
                </a:solidFill>
              </a:defRPr>
            </a:pPr>
            <a:r>
              <a:t>Plural: Me parecen difíciles.</a:t>
            </a:r>
          </a:p>
          <a:p/>
          <a:p>
            <a:pPr>
              <a:defRPr sz="2400" b="1">
                <a:solidFill>
                  <a:srgbClr val="C41E3A"/>
                </a:solidFill>
              </a:defRPr>
            </a:pPr>
            <a:r>
              <a:t>¿Qué te parece Gonzalo? — Me parece bastante engreído.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Übung: parecer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i="1">
                <a:solidFill>
                  <a:srgbClr val="222222"/>
                </a:solidFill>
              </a:defRPr>
            </a:pPr>
            <a:r>
              <a:t>Ergänze die richtige Form: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972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1. ¿Qué te _____ los deberes? — Me _____ difíciles.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2. ¿Qué os _____ la película? — Nos _____ genial.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3. A Clara le _____ que Gonzalo es raro.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→ Partnerarbeit: ¿Qué te parece...?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5943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41E3A"/>
                </a:solidFill>
              </a:defRPr>
            </a:pPr>
            <a:r>
              <a:t>→ AB Aufgabe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Gramática: conocer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10972800" cy="4114800"/>
          </a:xfrm>
          <a:prstGeom prst="round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22222"/>
                </a:solidFill>
              </a:defRPr>
            </a:pPr>
            <a:r>
              <a:t>conocer = kennen / kennenlernen</a:t>
            </a:r>
          </a:p>
          <a:p>
            <a:pPr>
              <a:spcAft>
                <a:spcPts val="800"/>
              </a:spcAft>
              <a:defRPr sz="2200">
                <a:solidFill>
                  <a:srgbClr val="222222"/>
                </a:solidFill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222222"/>
                </a:solidFill>
              </a:defRPr>
            </a:pPr>
            <a:r>
              <a:t>Konjugation:</a:t>
            </a:r>
          </a:p>
          <a:p>
            <a:pPr>
              <a:spcAft>
                <a:spcPts val="800"/>
              </a:spcAft>
              <a:defRPr sz="2200">
                <a:solidFill>
                  <a:srgbClr val="222222"/>
                </a:solidFill>
              </a:defRPr>
            </a:pPr>
            <a:r>
              <a:t>yo: conozco  (c → zc!)</a:t>
            </a:r>
          </a:p>
          <a:p>
            <a:pPr>
              <a:spcAft>
                <a:spcPts val="800"/>
              </a:spcAft>
              <a:defRPr sz="2200">
                <a:solidFill>
                  <a:srgbClr val="222222"/>
                </a:solidFill>
              </a:defRPr>
            </a:pPr>
            <a:r>
              <a:t>tú: conoces | él/ella: conoce</a:t>
            </a:r>
          </a:p>
          <a:p>
            <a:pPr>
              <a:spcAft>
                <a:spcPts val="800"/>
              </a:spcAft>
              <a:defRPr sz="2200">
                <a:solidFill>
                  <a:srgbClr val="222222"/>
                </a:solidFill>
              </a:defRPr>
            </a:pPr>
            <a:r>
              <a:t>nosotros: conocemos | vosotros: conocéis</a:t>
            </a:r>
          </a:p>
          <a:p>
            <a:pPr>
              <a:spcAft>
                <a:spcPts val="800"/>
              </a:spcAft>
              <a:defRPr sz="2200">
                <a:solidFill>
                  <a:srgbClr val="222222"/>
                </a:solidFill>
              </a:defRPr>
            </a:pPr>
            <a:r>
              <a:t>ellos: conocen</a:t>
            </a:r>
          </a:p>
          <a:p/>
          <a:p>
            <a:pPr>
              <a:defRPr sz="2400" b="1">
                <a:solidFill>
                  <a:srgbClr val="C41E3A"/>
                </a:solidFill>
              </a:defRPr>
            </a:pPr>
            <a:r>
              <a:t>¡Achtung! yo = conozco (nicht *conoco)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Wichtig: conocer + 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10972800" cy="4114800"/>
          </a:xfrm>
          <a:prstGeom prst="round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22222"/>
                </a:solidFill>
              </a:defRPr>
            </a:pPr>
            <a:r>
              <a:t>Bei PERSONEN steht immer a!</a:t>
            </a:r>
          </a:p>
          <a:p>
            <a:pPr>
              <a:spcAft>
                <a:spcPts val="800"/>
              </a:spcAft>
              <a:defRPr sz="2200">
                <a:solidFill>
                  <a:srgbClr val="222222"/>
                </a:solidFill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222222"/>
                </a:solidFill>
              </a:defRPr>
            </a:pPr>
            <a:r>
              <a:t>Person → mit a:</a:t>
            </a:r>
          </a:p>
          <a:p>
            <a:pPr>
              <a:spcAft>
                <a:spcPts val="800"/>
              </a:spcAft>
              <a:defRPr sz="2200">
                <a:solidFill>
                  <a:srgbClr val="222222"/>
                </a:solidFill>
              </a:defRPr>
            </a:pPr>
            <a:r>
              <a:t>  ¿Conoces a María?</a:t>
            </a:r>
          </a:p>
          <a:p>
            <a:pPr>
              <a:spcAft>
                <a:spcPts val="800"/>
              </a:spcAft>
              <a:defRPr sz="2200">
                <a:solidFill>
                  <a:srgbClr val="222222"/>
                </a:solidFill>
              </a:defRPr>
            </a:pPr>
            <a:r>
              <a:t>  Conozco a tu hermano.</a:t>
            </a:r>
          </a:p>
          <a:p>
            <a:pPr>
              <a:spcAft>
                <a:spcPts val="800"/>
              </a:spcAft>
              <a:defRPr sz="2200">
                <a:solidFill>
                  <a:srgbClr val="222222"/>
                </a:solidFill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222222"/>
                </a:solidFill>
              </a:defRPr>
            </a:pPr>
            <a:r>
              <a:t>Sache → ohne a:</a:t>
            </a:r>
          </a:p>
          <a:p>
            <a:pPr>
              <a:spcAft>
                <a:spcPts val="800"/>
              </a:spcAft>
              <a:defRPr sz="2200">
                <a:solidFill>
                  <a:srgbClr val="222222"/>
                </a:solidFill>
              </a:defRPr>
            </a:pPr>
            <a:r>
              <a:t>  ¿Conoces la ciudad?</a:t>
            </a:r>
          </a:p>
          <a:p/>
          <a:p>
            <a:pPr>
              <a:defRPr sz="2400" b="1">
                <a:solidFill>
                  <a:srgbClr val="C41E3A"/>
                </a:solidFill>
              </a:defRPr>
            </a:pPr>
            <a:r>
              <a:t>Merke: ¡Personas con a!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Übung: conocer +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i="1">
                <a:solidFill>
                  <a:srgbClr val="222222"/>
                </a:solidFill>
              </a:defRPr>
            </a:pPr>
            <a:r>
              <a:t>Ergänze a wo nötig: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972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1. ¿Conoces ___ mi madre?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2. No conozco ___ esta ciudad.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3. Queremos conocer ___ tus amigos.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4. ¿Conocéis ___ el nuevo piso?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→ Einzelarbeit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5943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41E3A"/>
                </a:solidFill>
              </a:defRPr>
            </a:pPr>
            <a:r>
              <a:t>→ AB Aufgabe 2+3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Diálogo: ¿Conoces a...?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</a:defRPr>
            </a:pPr>
            <a:r>
              <a:t>Partnerarbeit: Führt einen Dialog!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</a:defRPr>
            </a:pP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</a:defRPr>
            </a:pPr>
            <a:r>
              <a:t>A: ¿Conoces a mi hermano?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</a:defRPr>
            </a:pPr>
            <a:r>
              <a:t>B: No, todavía no lo conozco. ¿Cómo es?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</a:defRPr>
            </a:pPr>
            <a:r>
              <a:t>A: Me parece un poco raro...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</a:defRPr>
            </a:pPr>
            <a:r>
              <a:t>B: ¿Qué te parece su música?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</a:defRPr>
            </a:pPr>
            <a:r>
              <a:t>A: Me parece bastante buena.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5943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41E3A"/>
                </a:solidFill>
              </a:defRPr>
            </a:pPr>
            <a:r>
              <a:t>→ AB Aufgabe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Resumen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</a:defRPr>
            </a:pPr>
            <a:r>
              <a:t>parecer (wie gustar)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</a:defRPr>
            </a:pPr>
            <a:r>
              <a:t>  → me/te/le... + parece (Sg.) / parecen (Pl.)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</a:defRPr>
            </a:pP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</a:defRPr>
            </a:pPr>
            <a:r>
              <a:t>conocer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</a:defRPr>
            </a:pPr>
            <a:r>
              <a:t>  → yo: conozco (c → zc)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</a:defRPr>
            </a:pPr>
            <a:r>
              <a:t>  → conocer + a bei Personen!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</a:defRPr>
            </a:pP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</a:defRPr>
            </a:pPr>
            <a:r>
              <a:t>¡Muy bien! ¡Habéis aprendido mucho hoy!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Deberes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</a:defRPr>
            </a:pPr>
            <a:r>
              <a:t>Pflicht: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</a:defRPr>
            </a:pPr>
            <a:r>
              <a:t>  • Lehrwerk S. 21, Aufgabe 14b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</a:defRPr>
            </a:pPr>
            <a:r>
              <a:t>  • Vokabeln lernen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</a:defRPr>
            </a:pP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</a:defRPr>
            </a:pPr>
            <a:r>
              <a:t>Optional: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</a:defRPr>
            </a:pPr>
            <a:r>
              <a:t>  • 5 Sätze über deine Familie</a:t>
            </a:r>
          </a:p>
          <a:p>
            <a:pPr>
              <a:spcAft>
                <a:spcPts val="1200"/>
              </a:spcAft>
              <a:defRPr sz="2400">
                <a:solidFill>
                  <a:srgbClr val="222222"/>
                </a:solidFill>
              </a:defRPr>
            </a:pPr>
            <a:r>
              <a:t>  • Lernpfad LP-01 bearbeiten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