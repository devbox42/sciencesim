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4552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5600" b="1">
                <a:solidFill>
                  <a:srgbClr val="FFFFFF"/>
                </a:solidFill>
                <a:latin typeface="Arial"/>
              </a:defRPr>
            </a:pPr>
            <a:r>
              <a:t>El tiempo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56032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0">
                <a:solidFill>
                  <a:srgbClr val="FFCCCC"/>
                </a:solidFill>
                <a:latin typeface="Arial"/>
              </a:defRPr>
            </a:pPr>
            <a:r>
              <a:t>Das Wetter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9184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0">
                <a:solidFill>
                  <a:srgbClr val="EEAAAA"/>
                </a:solidFill>
                <a:latin typeface="Arial"/>
              </a:defRPr>
            </a:pPr>
            <a:r>
              <a:t>Sequenz 8 · Lektion 08b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C41E3A"/>
                </a:solidFill>
                <a:latin typeface="Arial"/>
              </a:defRPr>
            </a:pPr>
            <a:r>
              <a:t>Spanisch Klasse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6692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0">
                <a:solidFill>
                  <a:srgbClr val="222222"/>
                </a:solidFill>
                <a:latin typeface="Arial"/>
              </a:defRPr>
            </a:pPr>
            <a:r>
              <a:t>☀️🌧️❄️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Spanisch Klasse 7 · LP-08b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601968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Arial"/>
              </a:defRPr>
            </a:pPr>
            <a:r>
              <a:t>El tiempo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6601968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555555"/>
                </a:solidFill>
                <a:latin typeface="Arial"/>
              </a:defRPr>
            </a:pPr>
            <a:r>
              <a:t>Sequenz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C41E3A"/>
                </a:solidFill>
                <a:latin typeface="Arial"/>
              </a:defRPr>
            </a:pPr>
            <a:r>
              <a:t>Lernziele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Wetter beschreiben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1945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hacer + Wetter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9260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Jahreszeiten kennen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Spanisch Klasse 7 · LP-08b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601968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Arial"/>
              </a:defRPr>
            </a:pPr>
            <a:r>
              <a:t>El tiempo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6601968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555555"/>
                </a:solidFill>
                <a:latin typeface="Arial"/>
              </a:defRPr>
            </a:pPr>
            <a:r>
              <a:t>Sequenz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C41E3A"/>
                </a:solidFill>
                <a:latin typeface="Arial"/>
              </a:defRPr>
            </a:pPr>
            <a:r>
              <a:t>📝 Wetter mit hace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5029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C41E3A"/>
                </a:solidFill>
                <a:latin typeface="Arial"/>
              </a:defRPr>
            </a:pPr>
            <a:r>
              <a:t>Hace sol.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155448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555555"/>
                </a:solidFill>
                <a:latin typeface="Arial"/>
              </a:defRPr>
            </a:pPr>
            <a:r>
              <a:t>Die Sonne scheint.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560320"/>
            <a:ext cx="5029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C41E3A"/>
                </a:solidFill>
                <a:latin typeface="Arial"/>
              </a:defRPr>
            </a:pPr>
            <a:r>
              <a:t>Hace calor.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265176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555555"/>
                </a:solidFill>
                <a:latin typeface="Arial"/>
              </a:defRPr>
            </a:pPr>
            <a:r>
              <a:t>Es ist heiß.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657600"/>
            <a:ext cx="5029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C41E3A"/>
                </a:solidFill>
                <a:latin typeface="Arial"/>
              </a:defRPr>
            </a:pPr>
            <a:r>
              <a:t>Hace frío.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3749039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555555"/>
                </a:solidFill>
                <a:latin typeface="Arial"/>
              </a:defRPr>
            </a:pPr>
            <a:r>
              <a:t>Es ist kalt.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5029200"/>
            <a:ext cx="11274552" cy="1097280"/>
          </a:xfrm>
          <a:prstGeom prst="rect">
            <a:avLst/>
          </a:prstGeom>
          <a:solidFill>
            <a:srgbClr val="FFF8F0"/>
          </a:solidFill>
          <a:ln>
            <a:solidFill>
              <a:srgbClr val="B35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52120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0">
                <a:solidFill>
                  <a:srgbClr val="222222"/>
                </a:solidFill>
                <a:latin typeface="Arial"/>
              </a:defRPr>
            </a:pPr>
            <a:r>
              <a:t>💡 hace = es macht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Spanisch Klasse 7 · LP-08b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601968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Arial"/>
              </a:defRPr>
            </a:pPr>
            <a:r>
              <a:t>El tiempo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6601968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555555"/>
                </a:solidFill>
                <a:latin typeface="Arial"/>
              </a:defRPr>
            </a:pPr>
            <a:r>
              <a:t>Sequenz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C41E3A"/>
                </a:solidFill>
                <a:latin typeface="Arial"/>
              </a:defRPr>
            </a:pPr>
            <a:r>
              <a:t>📝 Wetter mit hace (2)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5029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C41E3A"/>
                </a:solidFill>
                <a:latin typeface="Arial"/>
              </a:defRPr>
            </a:pPr>
            <a:r>
              <a:t>Hace buen tiempo.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155448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555555"/>
                </a:solidFill>
                <a:latin typeface="Arial"/>
              </a:defRPr>
            </a:pPr>
            <a:r>
              <a:t>Das Wetter ist gut.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560320"/>
            <a:ext cx="5029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C41E3A"/>
                </a:solidFill>
                <a:latin typeface="Arial"/>
              </a:defRPr>
            </a:pPr>
            <a:r>
              <a:t>Hace mal tiempo.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265176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555555"/>
                </a:solidFill>
                <a:latin typeface="Arial"/>
              </a:defRPr>
            </a:pPr>
            <a:r>
              <a:t>Das Wetter ist schlecht.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657600"/>
            <a:ext cx="5029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C41E3A"/>
                </a:solidFill>
                <a:latin typeface="Arial"/>
              </a:defRPr>
            </a:pPr>
            <a:r>
              <a:t>Hace viento.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3749039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555555"/>
                </a:solidFill>
                <a:latin typeface="Arial"/>
              </a:defRPr>
            </a:pPr>
            <a:r>
              <a:t>Es ist windig.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Spanisch Klasse 7 · LP-08b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601968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Arial"/>
              </a:defRPr>
            </a:pPr>
            <a:r>
              <a:t>El tiempo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6601968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555555"/>
                </a:solidFill>
                <a:latin typeface="Arial"/>
              </a:defRPr>
            </a:pPr>
            <a:r>
              <a:t>Sequenz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C41E3A"/>
                </a:solidFill>
                <a:latin typeface="Arial"/>
              </a:defRPr>
            </a:pPr>
            <a:r>
              <a:t>📝 Wetter ohne hace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5029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C41E3A"/>
                </a:solidFill>
                <a:latin typeface="Arial"/>
              </a:defRPr>
            </a:pPr>
            <a:r>
              <a:t>Llueve.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155448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555555"/>
                </a:solidFill>
                <a:latin typeface="Arial"/>
              </a:defRPr>
            </a:pPr>
            <a:r>
              <a:t>Es regnet.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560320"/>
            <a:ext cx="5029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C41E3A"/>
                </a:solidFill>
                <a:latin typeface="Arial"/>
              </a:defRPr>
            </a:pPr>
            <a:r>
              <a:t>Nieva.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265176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555555"/>
                </a:solidFill>
                <a:latin typeface="Arial"/>
              </a:defRPr>
            </a:pPr>
            <a:r>
              <a:t>Es schneit.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657600"/>
            <a:ext cx="5029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C41E3A"/>
                </a:solidFill>
                <a:latin typeface="Arial"/>
              </a:defRPr>
            </a:pPr>
            <a:r>
              <a:t>Está nublado.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3749039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555555"/>
                </a:solidFill>
                <a:latin typeface="Arial"/>
              </a:defRPr>
            </a:pPr>
            <a:r>
              <a:t>Es ist bewölkt.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5029200"/>
            <a:ext cx="11274552" cy="1097280"/>
          </a:xfrm>
          <a:prstGeom prst="rect">
            <a:avLst/>
          </a:prstGeom>
          <a:solidFill>
            <a:srgbClr val="FFF8F0"/>
          </a:solidFill>
          <a:ln>
            <a:solidFill>
              <a:srgbClr val="B35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52120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0">
                <a:solidFill>
                  <a:srgbClr val="222222"/>
                </a:solidFill>
                <a:latin typeface="Arial"/>
              </a:defRPr>
            </a:pPr>
            <a:r>
              <a:t>💡 Eigene Verben/estar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Spanisch Klasse 7 · LP-08b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601968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Arial"/>
              </a:defRPr>
            </a:pPr>
            <a:r>
              <a:t>El tiempo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6601968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555555"/>
                </a:solidFill>
                <a:latin typeface="Arial"/>
              </a:defRPr>
            </a:pPr>
            <a:r>
              <a:t>Sequenz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C41E3A"/>
                </a:solidFill>
                <a:latin typeface="Arial"/>
              </a:defRPr>
            </a:pPr>
            <a:r>
              <a:t>📚 Wettervokabeln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11274552" cy="59436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48132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rial"/>
              </a:defRPr>
            </a:pPr>
            <a:r>
              <a:t>Spanisch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148132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rial"/>
              </a:defRPr>
            </a:pPr>
            <a:r>
              <a:t>Deutsch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07568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C41E3A"/>
                </a:solidFill>
                <a:latin typeface="Arial"/>
              </a:defRPr>
            </a:pPr>
            <a:r>
              <a:t>el sol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207568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die Sonne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560320"/>
            <a:ext cx="11274552" cy="5943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67004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C41E3A"/>
                </a:solidFill>
                <a:latin typeface="Arial"/>
              </a:defRPr>
            </a:pPr>
            <a:r>
              <a:t>la lluvia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267004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der Regen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26440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C41E3A"/>
                </a:solidFill>
                <a:latin typeface="Arial"/>
              </a:defRPr>
            </a:pPr>
            <a:r>
              <a:t>la nieve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326440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der Schnee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749039"/>
            <a:ext cx="11274552" cy="5943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85876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C41E3A"/>
                </a:solidFill>
                <a:latin typeface="Arial"/>
              </a:defRPr>
            </a:pPr>
            <a:r>
              <a:t>la nube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385876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die Wolke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943600"/>
            <a:ext cx="11274552" cy="548640"/>
          </a:xfrm>
          <a:prstGeom prst="rect">
            <a:avLst/>
          </a:prstGeom>
          <a:solidFill>
            <a:srgbClr val="FDF2F4"/>
          </a:solidFill>
          <a:ln>
            <a:solidFill>
              <a:srgbClr val="C4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605332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C41E3A"/>
                </a:solidFill>
                <a:latin typeface="Arial"/>
              </a:defRPr>
            </a:pPr>
            <a:r>
              <a:t>📝 AB-08b: Kasten 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Spanisch Klasse 7 · LP-08b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601968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Arial"/>
              </a:defRPr>
            </a:pPr>
            <a:r>
              <a:t>El tiempo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6601968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555555"/>
                </a:solidFill>
                <a:latin typeface="Arial"/>
              </a:defRPr>
            </a:pPr>
            <a:r>
              <a:t>Sequenz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C41E3A"/>
                </a:solidFill>
                <a:latin typeface="Arial"/>
              </a:defRPr>
            </a:pPr>
            <a:r>
              <a:t>📚 Jahreszeiten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11274552" cy="59436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48132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rial"/>
              </a:defRPr>
            </a:pPr>
            <a:r>
              <a:t>Spanisch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148132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rial"/>
              </a:defRPr>
            </a:pPr>
            <a:r>
              <a:t>Deutsch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07568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C41E3A"/>
                </a:solidFill>
                <a:latin typeface="Arial"/>
              </a:defRPr>
            </a:pPr>
            <a:r>
              <a:t>la primavera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207568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der Frühling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560320"/>
            <a:ext cx="11274552" cy="5943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67004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C41E3A"/>
                </a:solidFill>
                <a:latin typeface="Arial"/>
              </a:defRPr>
            </a:pPr>
            <a:r>
              <a:t>el verano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267004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der Sommer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26440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C41E3A"/>
                </a:solidFill>
                <a:latin typeface="Arial"/>
              </a:defRPr>
            </a:pPr>
            <a:r>
              <a:t>el otoño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326440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der Herbst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749039"/>
            <a:ext cx="11274552" cy="5943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85876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C41E3A"/>
                </a:solidFill>
                <a:latin typeface="Arial"/>
              </a:defRPr>
            </a:pPr>
            <a:r>
              <a:t>el invierno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385876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der Winter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943600"/>
            <a:ext cx="11274552" cy="548640"/>
          </a:xfrm>
          <a:prstGeom prst="rect">
            <a:avLst/>
          </a:prstGeom>
          <a:solidFill>
            <a:srgbClr val="FDF2F4"/>
          </a:solidFill>
          <a:ln>
            <a:solidFill>
              <a:srgbClr val="C4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605332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C41E3A"/>
                </a:solidFill>
                <a:latin typeface="Arial"/>
              </a:defRPr>
            </a:pPr>
            <a:r>
              <a:t>📝 AB-08b: Kasten 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Spanisch Klasse 7 · LP-08b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601968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Arial"/>
              </a:defRPr>
            </a:pPr>
            <a:r>
              <a:t>El tiempo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6601968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555555"/>
                </a:solidFill>
                <a:latin typeface="Arial"/>
              </a:defRPr>
            </a:pPr>
            <a:r>
              <a:t>Sequenz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C41E3A"/>
                </a:solidFill>
                <a:latin typeface="Arial"/>
              </a:defRPr>
            </a:pPr>
            <a:r>
              <a:t>📝 Wetter fragen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5029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C41E3A"/>
                </a:solidFill>
                <a:latin typeface="Arial"/>
              </a:defRPr>
            </a:pPr>
            <a:r>
              <a:t>¿Qué tiempo hace?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155448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555555"/>
                </a:solidFill>
                <a:latin typeface="Arial"/>
              </a:defRPr>
            </a:pPr>
            <a:r>
              <a:t>Wie ist das Wetter?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560320"/>
            <a:ext cx="5029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C41E3A"/>
                </a:solidFill>
                <a:latin typeface="Arial"/>
              </a:defRPr>
            </a:pPr>
            <a:r>
              <a:t>¿Hace calor o frío?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265176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555555"/>
                </a:solidFill>
                <a:latin typeface="Arial"/>
              </a:defRPr>
            </a:pPr>
            <a:r>
              <a:t>Ist es heiß oder kalt?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Spanisch Klasse 7 · LP-08b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601968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Arial"/>
              </a:defRPr>
            </a:pPr>
            <a:r>
              <a:t>El tiempo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6601968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555555"/>
                </a:solidFill>
                <a:latin typeface="Arial"/>
              </a:defRPr>
            </a:pPr>
            <a:r>
              <a:t>Sequenz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C41E3A"/>
                </a:solidFill>
                <a:latin typeface="Arial"/>
              </a:defRPr>
            </a:pPr>
            <a:r>
              <a:t>Beispieldialog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– ¿Qué tiempo hace en España?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1945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– En verano hace mucho calor.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9260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– ¿Y en invierno?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6576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– Hace frío, pero no nieva mucho.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Spanisch Klasse 7 · LP-08b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601968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Arial"/>
              </a:defRPr>
            </a:pPr>
            <a:r>
              <a:t>El tiempo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6601968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555555"/>
                </a:solidFill>
                <a:latin typeface="Arial"/>
              </a:defRPr>
            </a:pPr>
            <a:r>
              <a:t>Sequenz 8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40080"/>
            <a:ext cx="1828800" cy="457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713231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ÜBUNG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28016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C41E3A"/>
                </a:solidFill>
                <a:latin typeface="Arial"/>
              </a:defRPr>
            </a:pPr>
            <a:r>
              <a:t>✏️ Übung: Wetter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1168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1">
                <a:solidFill>
                  <a:srgbClr val="C41E3A"/>
                </a:solidFill>
                <a:latin typeface="Arial"/>
              </a:defRPr>
            </a:pPr>
            <a:r>
              <a:t>Es ist heiß. =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201168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0">
                <a:solidFill>
                  <a:srgbClr val="888888"/>
                </a:solidFill>
                <a:latin typeface="Arial"/>
              </a:defRPr>
            </a:pPr>
            <a:r>
              <a:t>___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92608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1">
                <a:solidFill>
                  <a:srgbClr val="C41E3A"/>
                </a:solidFill>
                <a:latin typeface="Arial"/>
              </a:defRPr>
            </a:pPr>
            <a:r>
              <a:t>Es regnet. =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292608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0">
                <a:solidFill>
                  <a:srgbClr val="888888"/>
                </a:solidFill>
                <a:latin typeface="Arial"/>
              </a:defRPr>
            </a:pPr>
            <a:r>
              <a:t>___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84048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1">
                <a:solidFill>
                  <a:srgbClr val="C41E3A"/>
                </a:solidFill>
                <a:latin typeface="Arial"/>
              </a:defRPr>
            </a:pPr>
            <a:r>
              <a:t>Es ist windig. =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384048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0">
                <a:solidFill>
                  <a:srgbClr val="888888"/>
                </a:solidFill>
                <a:latin typeface="Arial"/>
              </a:defRPr>
            </a:pPr>
            <a:r>
              <a:t>___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5943600"/>
            <a:ext cx="11274552" cy="548640"/>
          </a:xfrm>
          <a:prstGeom prst="rect">
            <a:avLst/>
          </a:prstGeom>
          <a:solidFill>
            <a:srgbClr val="FDF2F4"/>
          </a:solidFill>
          <a:ln>
            <a:solidFill>
              <a:srgbClr val="C4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605332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C41E3A"/>
                </a:solidFill>
                <a:latin typeface="Arial"/>
              </a:defRPr>
            </a:pPr>
            <a:r>
              <a:t>📝 AB-08b: Aufgabe 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Spanisch Klasse 7 · LP-08b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601968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Arial"/>
              </a:defRPr>
            </a:pPr>
            <a:r>
              <a:t>El tiempo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6601968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555555"/>
                </a:solidFill>
                <a:latin typeface="Arial"/>
              </a:defRPr>
            </a:pPr>
            <a:r>
              <a:t>Sequenz 8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40080"/>
            <a:ext cx="1828800" cy="457200"/>
          </a:xfrm>
          <a:prstGeom prst="rect">
            <a:avLst/>
          </a:prstGeom>
          <a:solidFill>
            <a:srgbClr val="2A7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713231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LÖSUNG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28016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C41E3A"/>
                </a:solidFill>
                <a:latin typeface="Arial"/>
              </a:defRPr>
            </a:pPr>
            <a:r>
              <a:t>✅ Lösung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1168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C41E3A"/>
                </a:solidFill>
                <a:latin typeface="Arial"/>
              </a:defRPr>
            </a:pPr>
            <a:r>
              <a:t>Es ist heiß.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201168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2A7A4B"/>
                </a:solidFill>
                <a:latin typeface="Arial"/>
              </a:defRPr>
            </a:pPr>
            <a:r>
              <a:t>Hace calor.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10896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C41E3A"/>
                </a:solidFill>
                <a:latin typeface="Arial"/>
              </a:defRPr>
            </a:pPr>
            <a:r>
              <a:t>Es regnet.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310896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2A7A4B"/>
                </a:solidFill>
                <a:latin typeface="Arial"/>
              </a:defRPr>
            </a:pPr>
            <a:r>
              <a:t>Llueve.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20624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C41E3A"/>
                </a:solidFill>
                <a:latin typeface="Arial"/>
              </a:defRPr>
            </a:pPr>
            <a:r>
              <a:t>Es ist windig.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420624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2A7A4B"/>
                </a:solidFill>
                <a:latin typeface="Arial"/>
              </a:defRPr>
            </a:pPr>
            <a:r>
              <a:t>Hace viento.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Spanisch Klasse 7 · LP-08b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601968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Arial"/>
              </a:defRPr>
            </a:pPr>
            <a:r>
              <a:t>El tiempo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6601968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555555"/>
                </a:solidFill>
                <a:latin typeface="Arial"/>
              </a:defRPr>
            </a:pPr>
            <a:r>
              <a:t>Sequenz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C41E3A"/>
                </a:solidFill>
                <a:latin typeface="Arial"/>
              </a:defRPr>
            </a:pPr>
            <a:r>
              <a:t>📋 Zusammenfassung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C41E3A"/>
                </a:solidFill>
                <a:latin typeface="Arial"/>
              </a:defRPr>
            </a:pPr>
            <a:r>
              <a:t>Vokabeln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01168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222222"/>
                </a:solidFill>
                <a:latin typeface="Arial"/>
              </a:defRPr>
            </a:pPr>
            <a:r>
              <a:t>•  Hace sol/calor/frío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56032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222222"/>
                </a:solidFill>
                <a:latin typeface="Arial"/>
              </a:defRPr>
            </a:pPr>
            <a:r>
              <a:t>•  Hace viento/buen tiempo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10896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222222"/>
                </a:solidFill>
                <a:latin typeface="Arial"/>
              </a:defRPr>
            </a:pPr>
            <a:r>
              <a:t>•  Llueve, Nieva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46304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C41E3A"/>
                </a:solidFill>
                <a:latin typeface="Arial"/>
              </a:defRPr>
            </a:pPr>
            <a:r>
              <a:t>Grammatik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01168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222222"/>
                </a:solidFill>
                <a:latin typeface="Arial"/>
              </a:defRPr>
            </a:pPr>
            <a:r>
              <a:t>•  primavera, verano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56032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222222"/>
                </a:solidFill>
                <a:latin typeface="Arial"/>
              </a:defRPr>
            </a:pPr>
            <a:r>
              <a:t>•  otoño, invierno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310896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222222"/>
                </a:solidFill>
                <a:latin typeface="Arial"/>
              </a:defRPr>
            </a:pPr>
            <a:r>
              <a:t>•  ¿Qué tiempo hace?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Spanisch Klasse 7 · LP-08b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601968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Arial"/>
              </a:defRPr>
            </a:pPr>
            <a:r>
              <a:t>El tiempo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6601968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555555"/>
                </a:solidFill>
                <a:latin typeface="Arial"/>
              </a:defRPr>
            </a:pPr>
            <a:r>
              <a:t>Sequenz 8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40080"/>
            <a:ext cx="1828800" cy="457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713231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HAUSAUFGABE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28016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C41E3A"/>
                </a:solidFill>
                <a:latin typeface="Arial"/>
              </a:defRPr>
            </a:pPr>
            <a:r>
              <a:t>📚 Para casa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0312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2A7A4B"/>
                </a:solidFill>
                <a:latin typeface="Arial"/>
              </a:defRPr>
            </a:pPr>
            <a: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210312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Wettervokabeln lernen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926079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2A7A4B"/>
                </a:solidFill>
                <a:latin typeface="Arial"/>
              </a:defRPr>
            </a:pPr>
            <a: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2926079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Wetter in deiner Stadt beschreiben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749039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2A7A4B"/>
                </a:solidFill>
                <a:latin typeface="Arial"/>
              </a:defRPr>
            </a:pPr>
            <a: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3749039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AB-08b vollständig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76072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C41E3A"/>
                </a:solidFill>
                <a:latin typeface="Arial"/>
              </a:defRPr>
            </a:pPr>
            <a:r>
              <a:t>¡Hasta luego!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