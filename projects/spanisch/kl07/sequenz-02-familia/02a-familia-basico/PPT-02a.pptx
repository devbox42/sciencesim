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11274552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5600" b="1">
                <a:solidFill>
                  <a:srgbClr val="FFFFFF"/>
                </a:solidFill>
                <a:latin typeface="Arial"/>
              </a:defRPr>
            </a:pPr>
            <a:r>
              <a:t>La familia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560320"/>
            <a:ext cx="1127455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400" b="0">
                <a:solidFill>
                  <a:srgbClr val="FFCCCC"/>
                </a:solidFill>
                <a:latin typeface="Arial"/>
              </a:defRPr>
            </a:pPr>
            <a:r>
              <a:t>Familienmitglieder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291840"/>
            <a:ext cx="11274552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0">
                <a:solidFill>
                  <a:srgbClr val="EEAAAA"/>
                </a:solidFill>
                <a:latin typeface="Arial"/>
              </a:defRPr>
            </a:pPr>
            <a:r>
              <a:t>Sequenz 2 · Lektion 02a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02920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1">
                <a:solidFill>
                  <a:srgbClr val="C41E3A"/>
                </a:solidFill>
                <a:latin typeface="Arial"/>
              </a:defRPr>
            </a:pPr>
            <a:r>
              <a:t>Spanisch Klasse 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66928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600" b="0">
                <a:solidFill>
                  <a:srgbClr val="222222"/>
                </a:solidFill>
                <a:latin typeface="Arial"/>
              </a:defRPr>
            </a:pPr>
            <a:r>
              <a:t>👨‍👩‍👧‍👦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Spanisch Klasse 7 · LP-02a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6601968"/>
            <a:ext cx="457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Arial"/>
              </a:defRPr>
            </a:pPr>
            <a:r>
              <a:t>La familia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6601968"/>
            <a:ext cx="2743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555555"/>
                </a:solidFill>
                <a:latin typeface="Arial"/>
              </a:defRPr>
            </a:pPr>
            <a:r>
              <a:t>Sequenz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C41E3A"/>
                </a:solidFill>
                <a:latin typeface="Arial"/>
              </a:defRPr>
            </a:pPr>
            <a:r>
              <a:t>Lernziele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Familienmitglieder benennen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19456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Verwandtschaftsbeziehungen verstehen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92608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Plural bilden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Spanisch Klasse 7 · LP-02a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6601968"/>
            <a:ext cx="457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Arial"/>
              </a:defRPr>
            </a:pPr>
            <a:r>
              <a:t>La familia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6601968"/>
            <a:ext cx="2743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555555"/>
                </a:solidFill>
                <a:latin typeface="Arial"/>
              </a:defRPr>
            </a:pPr>
            <a:r>
              <a:t>Sequenz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C41E3A"/>
                </a:solidFill>
                <a:latin typeface="Arial"/>
              </a:defRPr>
            </a:pPr>
            <a:r>
              <a:t>📚 Eltern &amp; Kinder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11274552" cy="59436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48132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Arial"/>
              </a:defRPr>
            </a:pPr>
            <a:r>
              <a:t>Spanisch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0" y="148132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Arial"/>
              </a:defRPr>
            </a:pPr>
            <a:r>
              <a:t>Deutsch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07568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1">
                <a:solidFill>
                  <a:srgbClr val="C41E3A"/>
                </a:solidFill>
                <a:latin typeface="Arial"/>
              </a:defRPr>
            </a:pPr>
            <a:r>
              <a:t>el padre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0" y="207568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der Vater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560320"/>
            <a:ext cx="11274552" cy="5943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267004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1">
                <a:solidFill>
                  <a:srgbClr val="C41E3A"/>
                </a:solidFill>
                <a:latin typeface="Arial"/>
              </a:defRPr>
            </a:pPr>
            <a:r>
              <a:t>la madre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0" y="267004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die Mutter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326440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1">
                <a:solidFill>
                  <a:srgbClr val="C41E3A"/>
                </a:solidFill>
                <a:latin typeface="Arial"/>
              </a:defRPr>
            </a:pPr>
            <a:r>
              <a:t>los padres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0" y="326440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die Eltern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749039"/>
            <a:ext cx="11274552" cy="5943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385876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1">
                <a:solidFill>
                  <a:srgbClr val="C41E3A"/>
                </a:solidFill>
                <a:latin typeface="Arial"/>
              </a:defRPr>
            </a:pPr>
            <a:r>
              <a:t>el hijo / la hija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0" y="385876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Sohn / Tochter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5943600"/>
            <a:ext cx="11274552" cy="548640"/>
          </a:xfrm>
          <a:prstGeom prst="rect">
            <a:avLst/>
          </a:prstGeom>
          <a:solidFill>
            <a:srgbClr val="FDF2F4"/>
          </a:solidFill>
          <a:ln>
            <a:solidFill>
              <a:srgbClr val="C41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605332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C41E3A"/>
                </a:solidFill>
                <a:latin typeface="Arial"/>
              </a:defRPr>
            </a:pPr>
            <a:r>
              <a:t>📝 AB-02a: Kasten 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Spanisch Klasse 7 · LP-02a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6601968"/>
            <a:ext cx="457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Arial"/>
              </a:defRPr>
            </a:pPr>
            <a:r>
              <a:t>La familia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6601968"/>
            <a:ext cx="2743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555555"/>
                </a:solidFill>
                <a:latin typeface="Arial"/>
              </a:defRPr>
            </a:pPr>
            <a:r>
              <a:t>Sequenz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C41E3A"/>
                </a:solidFill>
                <a:latin typeface="Arial"/>
              </a:defRPr>
            </a:pPr>
            <a:r>
              <a:t>📚 Geschwister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11274552" cy="59436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48132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Arial"/>
              </a:defRPr>
            </a:pPr>
            <a:r>
              <a:t>Spanisch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0" y="148132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Arial"/>
              </a:defRPr>
            </a:pPr>
            <a:r>
              <a:t>Deutsch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07568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1">
                <a:solidFill>
                  <a:srgbClr val="C41E3A"/>
                </a:solidFill>
                <a:latin typeface="Arial"/>
              </a:defRPr>
            </a:pPr>
            <a:r>
              <a:t>el hermano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0" y="207568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der Bruder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560320"/>
            <a:ext cx="11274552" cy="5943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267004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1">
                <a:solidFill>
                  <a:srgbClr val="C41E3A"/>
                </a:solidFill>
                <a:latin typeface="Arial"/>
              </a:defRPr>
            </a:pPr>
            <a:r>
              <a:t>la hermana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0" y="267004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die Schwester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326440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1">
                <a:solidFill>
                  <a:srgbClr val="C41E3A"/>
                </a:solidFill>
                <a:latin typeface="Arial"/>
              </a:defRPr>
            </a:pPr>
            <a:r>
              <a:t>los hermanos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0" y="326440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die Geschwister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5943600"/>
            <a:ext cx="11274552" cy="548640"/>
          </a:xfrm>
          <a:prstGeom prst="rect">
            <a:avLst/>
          </a:prstGeom>
          <a:solidFill>
            <a:srgbClr val="FDF2F4"/>
          </a:solidFill>
          <a:ln>
            <a:solidFill>
              <a:srgbClr val="C41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605332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C41E3A"/>
                </a:solidFill>
                <a:latin typeface="Arial"/>
              </a:defRPr>
            </a:pPr>
            <a:r>
              <a:t>📝 AB-02a: Kasten 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Spanisch Klasse 7 · LP-02a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6601968"/>
            <a:ext cx="457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Arial"/>
              </a:defRPr>
            </a:pPr>
            <a:r>
              <a:t>La familia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6601968"/>
            <a:ext cx="2743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555555"/>
                </a:solidFill>
                <a:latin typeface="Arial"/>
              </a:defRPr>
            </a:pPr>
            <a:r>
              <a:t>Sequenz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C41E3A"/>
                </a:solidFill>
                <a:latin typeface="Arial"/>
              </a:defRPr>
            </a:pPr>
            <a:r>
              <a:t>📚 Großeltern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11274552" cy="59436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48132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Arial"/>
              </a:defRPr>
            </a:pPr>
            <a:r>
              <a:t>Spanisch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0" y="148132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Arial"/>
              </a:defRPr>
            </a:pPr>
            <a:r>
              <a:t>Deutsch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07568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1">
                <a:solidFill>
                  <a:srgbClr val="C41E3A"/>
                </a:solidFill>
                <a:latin typeface="Arial"/>
              </a:defRPr>
            </a:pPr>
            <a:r>
              <a:t>el abuelo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0" y="207568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der Großvater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560320"/>
            <a:ext cx="11274552" cy="5943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267004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1">
                <a:solidFill>
                  <a:srgbClr val="C41E3A"/>
                </a:solidFill>
                <a:latin typeface="Arial"/>
              </a:defRPr>
            </a:pPr>
            <a:r>
              <a:t>la abuela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0" y="267004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die Großmutter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326440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1">
                <a:solidFill>
                  <a:srgbClr val="C41E3A"/>
                </a:solidFill>
                <a:latin typeface="Arial"/>
              </a:defRPr>
            </a:pPr>
            <a:r>
              <a:t>los abuelos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0" y="326440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die Großeltern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5943600"/>
            <a:ext cx="11274552" cy="548640"/>
          </a:xfrm>
          <a:prstGeom prst="rect">
            <a:avLst/>
          </a:prstGeom>
          <a:solidFill>
            <a:srgbClr val="FDF2F4"/>
          </a:solidFill>
          <a:ln>
            <a:solidFill>
              <a:srgbClr val="C41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605332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C41E3A"/>
                </a:solidFill>
                <a:latin typeface="Arial"/>
              </a:defRPr>
            </a:pPr>
            <a:r>
              <a:t>📝 AB-02a: Kasten 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Spanisch Klasse 7 · LP-02a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6601968"/>
            <a:ext cx="457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Arial"/>
              </a:defRPr>
            </a:pPr>
            <a:r>
              <a:t>La familia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6601968"/>
            <a:ext cx="2743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555555"/>
                </a:solidFill>
                <a:latin typeface="Arial"/>
              </a:defRPr>
            </a:pPr>
            <a:r>
              <a:t>Sequenz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C41E3A"/>
                </a:solidFill>
                <a:latin typeface="Arial"/>
              </a:defRPr>
            </a:pPr>
            <a:r>
              <a:t>📚 Erweiterte Familie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11274552" cy="59436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48132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Arial"/>
              </a:defRPr>
            </a:pPr>
            <a:r>
              <a:t>Spanisch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0" y="148132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Arial"/>
              </a:defRPr>
            </a:pPr>
            <a:r>
              <a:t>Deutsch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07568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1">
                <a:solidFill>
                  <a:srgbClr val="C41E3A"/>
                </a:solidFill>
                <a:latin typeface="Arial"/>
              </a:defRPr>
            </a:pPr>
            <a:r>
              <a:t>el tío / la tía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0" y="207568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Onkel / Tante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560320"/>
            <a:ext cx="11274552" cy="5943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267004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1">
                <a:solidFill>
                  <a:srgbClr val="C41E3A"/>
                </a:solidFill>
                <a:latin typeface="Arial"/>
              </a:defRPr>
            </a:pPr>
            <a:r>
              <a:t>el primo / la prima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0" y="267004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Cousin / Cousine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326440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1">
                <a:solidFill>
                  <a:srgbClr val="C41E3A"/>
                </a:solidFill>
                <a:latin typeface="Arial"/>
              </a:defRPr>
            </a:pPr>
            <a:r>
              <a:t>el sobrino / la sobrina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0" y="326440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Neffe / Nichte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5943600"/>
            <a:ext cx="11274552" cy="548640"/>
          </a:xfrm>
          <a:prstGeom prst="rect">
            <a:avLst/>
          </a:prstGeom>
          <a:solidFill>
            <a:srgbClr val="FDF2F4"/>
          </a:solidFill>
          <a:ln>
            <a:solidFill>
              <a:srgbClr val="C41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605332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C41E3A"/>
                </a:solidFill>
                <a:latin typeface="Arial"/>
              </a:defRPr>
            </a:pPr>
            <a:r>
              <a:t>📝 AB-02a: Kasten 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Spanisch Klasse 7 · LP-02a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6601968"/>
            <a:ext cx="457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Arial"/>
              </a:defRPr>
            </a:pPr>
            <a:r>
              <a:t>La familia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6601968"/>
            <a:ext cx="2743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555555"/>
                </a:solidFill>
                <a:latin typeface="Arial"/>
              </a:defRPr>
            </a:pPr>
            <a:r>
              <a:t>Sequenz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C41E3A"/>
                </a:solidFill>
                <a:latin typeface="Arial"/>
              </a:defRPr>
            </a:pPr>
            <a:r>
              <a:t>📝 Plural bilden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5029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C41E3A"/>
                </a:solidFill>
                <a:latin typeface="Arial"/>
              </a:defRPr>
            </a:pPr>
            <a:r>
              <a:t>padre → padres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0" y="1554480"/>
            <a:ext cx="5486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0">
                <a:solidFill>
                  <a:srgbClr val="555555"/>
                </a:solidFill>
                <a:latin typeface="Arial"/>
              </a:defRPr>
            </a:pPr>
            <a:r>
              <a:t>+ 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560320"/>
            <a:ext cx="5029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C41E3A"/>
                </a:solidFill>
                <a:latin typeface="Arial"/>
              </a:defRPr>
            </a:pPr>
            <a:r>
              <a:t>hermano → hermanos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2651760"/>
            <a:ext cx="5486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0">
                <a:solidFill>
                  <a:srgbClr val="555555"/>
                </a:solidFill>
                <a:latin typeface="Arial"/>
              </a:defRPr>
            </a:pPr>
            <a:r>
              <a:t>+ 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5029200"/>
            <a:ext cx="11274552" cy="1097280"/>
          </a:xfrm>
          <a:prstGeom prst="rect">
            <a:avLst/>
          </a:prstGeom>
          <a:solidFill>
            <a:srgbClr val="FFF8F0"/>
          </a:solidFill>
          <a:ln>
            <a:solidFill>
              <a:srgbClr val="B35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521208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600" b="0">
                <a:solidFill>
                  <a:srgbClr val="222222"/>
                </a:solidFill>
                <a:latin typeface="Arial"/>
              </a:defRPr>
            </a:pPr>
            <a:r>
              <a:t>💡 Konsonant: + es (profesor → profesores)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Spanisch Klasse 7 · LP-02a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6601968"/>
            <a:ext cx="457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Arial"/>
              </a:defRPr>
            </a:pPr>
            <a:r>
              <a:t>La familia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6601968"/>
            <a:ext cx="2743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555555"/>
                </a:solidFill>
                <a:latin typeface="Arial"/>
              </a:defRPr>
            </a:pPr>
            <a:r>
              <a:t>Sequenz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C41E3A"/>
                </a:solidFill>
                <a:latin typeface="Arial"/>
              </a:defRPr>
            </a:pPr>
            <a:r>
              <a:t>📝 Gemischter Plural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5029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C41E3A"/>
                </a:solidFill>
                <a:latin typeface="Arial"/>
              </a:defRPr>
            </a:pPr>
            <a:r>
              <a:t>el padre + la madre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0" y="1554480"/>
            <a:ext cx="5486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0">
                <a:solidFill>
                  <a:srgbClr val="555555"/>
                </a:solidFill>
                <a:latin typeface="Arial"/>
              </a:defRPr>
            </a:pPr>
            <a:r>
              <a:t>= los padres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560320"/>
            <a:ext cx="5029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C41E3A"/>
                </a:solidFill>
                <a:latin typeface="Arial"/>
              </a:defRPr>
            </a:pPr>
            <a:r>
              <a:t>el hermano + la hermana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2651760"/>
            <a:ext cx="5486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0">
                <a:solidFill>
                  <a:srgbClr val="555555"/>
                </a:solidFill>
                <a:latin typeface="Arial"/>
              </a:defRPr>
            </a:pPr>
            <a:r>
              <a:t>= los hermanos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5029200"/>
            <a:ext cx="11274552" cy="1097280"/>
          </a:xfrm>
          <a:prstGeom prst="rect">
            <a:avLst/>
          </a:prstGeom>
          <a:solidFill>
            <a:srgbClr val="FFF8F0"/>
          </a:solidFill>
          <a:ln>
            <a:solidFill>
              <a:srgbClr val="B35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521208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600" b="0">
                <a:solidFill>
                  <a:srgbClr val="222222"/>
                </a:solidFill>
                <a:latin typeface="Arial"/>
              </a:defRPr>
            </a:pPr>
            <a:r>
              <a:t>💡 Gemischt = maskuliner Plural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Spanisch Klasse 7 · LP-02a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6601968"/>
            <a:ext cx="457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Arial"/>
              </a:defRPr>
            </a:pPr>
            <a:r>
              <a:t>La familia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6601968"/>
            <a:ext cx="2743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555555"/>
                </a:solidFill>
                <a:latin typeface="Arial"/>
              </a:defRPr>
            </a:pPr>
            <a:r>
              <a:t>Sequenz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C41E3A"/>
                </a:solidFill>
                <a:latin typeface="Arial"/>
              </a:defRPr>
            </a:pPr>
            <a:r>
              <a:t>Stammbaum-Beispiel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👴 abuelo + 👵 abuela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19456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├── 👨 padre + 👩 madre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92608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│   ├── 👦 yo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65760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│   └── 👧 hermana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Spanisch Klasse 7 · LP-02a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6601968"/>
            <a:ext cx="457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Arial"/>
              </a:defRPr>
            </a:pPr>
            <a:r>
              <a:t>La familia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6601968"/>
            <a:ext cx="2743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555555"/>
                </a:solidFill>
                <a:latin typeface="Arial"/>
              </a:defRPr>
            </a:pPr>
            <a:r>
              <a:t>Sequenz 2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40080"/>
            <a:ext cx="1828800" cy="457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713231"/>
            <a:ext cx="1645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rial"/>
              </a:defRPr>
            </a:pPr>
            <a:r>
              <a:t>ÜBUNG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28016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C41E3A"/>
                </a:solidFill>
                <a:latin typeface="Arial"/>
              </a:defRPr>
            </a:pPr>
            <a:r>
              <a:t>✏️ Übung: Wer ist wer?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011680"/>
            <a:ext cx="5029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200" b="1">
                <a:solidFill>
                  <a:srgbClr val="C41E3A"/>
                </a:solidFill>
                <a:latin typeface="Arial"/>
              </a:defRPr>
            </a:pPr>
            <a:r>
              <a:t>Der Bruder meiner Mutter =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2011680"/>
            <a:ext cx="5029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200" b="0">
                <a:solidFill>
                  <a:srgbClr val="888888"/>
                </a:solidFill>
                <a:latin typeface="Arial"/>
              </a:defRPr>
            </a:pPr>
            <a:r>
              <a:t>___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926080"/>
            <a:ext cx="5029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200" b="1">
                <a:solidFill>
                  <a:srgbClr val="C41E3A"/>
                </a:solidFill>
                <a:latin typeface="Arial"/>
              </a:defRPr>
            </a:pPr>
            <a:r>
              <a:t>Die Tochter meiner Tante =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0" y="2926080"/>
            <a:ext cx="5029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200" b="0">
                <a:solidFill>
                  <a:srgbClr val="888888"/>
                </a:solidFill>
                <a:latin typeface="Arial"/>
              </a:defRPr>
            </a:pPr>
            <a:r>
              <a:t>___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5943600"/>
            <a:ext cx="11274552" cy="548640"/>
          </a:xfrm>
          <a:prstGeom prst="rect">
            <a:avLst/>
          </a:prstGeom>
          <a:solidFill>
            <a:srgbClr val="FDF2F4"/>
          </a:solidFill>
          <a:ln>
            <a:solidFill>
              <a:srgbClr val="C41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605332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C41E3A"/>
                </a:solidFill>
                <a:latin typeface="Arial"/>
              </a:defRPr>
            </a:pPr>
            <a:r>
              <a:t>📝 AB-02a: Aufgabe 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Spanisch Klasse 7 · LP-02a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6601968"/>
            <a:ext cx="457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Arial"/>
              </a:defRPr>
            </a:pPr>
            <a:r>
              <a:t>La familia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6601968"/>
            <a:ext cx="2743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555555"/>
                </a:solidFill>
                <a:latin typeface="Arial"/>
              </a:defRPr>
            </a:pPr>
            <a:r>
              <a:t>Sequenz 2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40080"/>
            <a:ext cx="1828800" cy="457200"/>
          </a:xfrm>
          <a:prstGeom prst="rect">
            <a:avLst/>
          </a:prstGeom>
          <a:solidFill>
            <a:srgbClr val="2A7A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713231"/>
            <a:ext cx="1645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rial"/>
              </a:defRPr>
            </a:pPr>
            <a:r>
              <a:t>LÖSUNG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28016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C41E3A"/>
                </a:solidFill>
                <a:latin typeface="Arial"/>
              </a:defRPr>
            </a:pPr>
            <a:r>
              <a:t>✅ Lösung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011680"/>
            <a:ext cx="5029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400" b="1">
                <a:solidFill>
                  <a:srgbClr val="C41E3A"/>
                </a:solidFill>
                <a:latin typeface="Arial"/>
              </a:defRPr>
            </a:pPr>
            <a:r>
              <a:t>Der Bruder meiner Mutter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2011680"/>
            <a:ext cx="5029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400" b="1">
                <a:solidFill>
                  <a:srgbClr val="2A7A4B"/>
                </a:solidFill>
                <a:latin typeface="Arial"/>
              </a:defRPr>
            </a:pPr>
            <a:r>
              <a:t>el tío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108960"/>
            <a:ext cx="5029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400" b="1">
                <a:solidFill>
                  <a:srgbClr val="C41E3A"/>
                </a:solidFill>
                <a:latin typeface="Arial"/>
              </a:defRPr>
            </a:pPr>
            <a:r>
              <a:t>Die Tochter meiner Tante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0" y="3108960"/>
            <a:ext cx="5029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400" b="1">
                <a:solidFill>
                  <a:srgbClr val="2A7A4B"/>
                </a:solidFill>
                <a:latin typeface="Arial"/>
              </a:defRPr>
            </a:pPr>
            <a:r>
              <a:t>la prima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Spanisch Klasse 7 · LP-02a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6601968"/>
            <a:ext cx="457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Arial"/>
              </a:defRPr>
            </a:pPr>
            <a:r>
              <a:t>La familia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6601968"/>
            <a:ext cx="2743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555555"/>
                </a:solidFill>
                <a:latin typeface="Arial"/>
              </a:defRPr>
            </a:pPr>
            <a:r>
              <a:t>Sequenz 2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40080"/>
            <a:ext cx="1828800" cy="457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713231"/>
            <a:ext cx="1645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rial"/>
              </a:defRPr>
            </a:pPr>
            <a:r>
              <a:t>ÜBUNG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28016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C41E3A"/>
                </a:solidFill>
                <a:latin typeface="Arial"/>
              </a:defRPr>
            </a:pPr>
            <a:r>
              <a:t>✏️ Übung: Plural bilden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011680"/>
            <a:ext cx="5029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200" b="1">
                <a:solidFill>
                  <a:srgbClr val="C41E3A"/>
                </a:solidFill>
                <a:latin typeface="Arial"/>
              </a:defRPr>
            </a:pPr>
            <a:r>
              <a:t>el padre 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2011680"/>
            <a:ext cx="5029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200" b="0">
                <a:solidFill>
                  <a:srgbClr val="888888"/>
                </a:solidFill>
                <a:latin typeface="Arial"/>
              </a:defRPr>
            </a:pPr>
            <a:r>
              <a:t>___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926080"/>
            <a:ext cx="5029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200" b="1">
                <a:solidFill>
                  <a:srgbClr val="C41E3A"/>
                </a:solidFill>
                <a:latin typeface="Arial"/>
              </a:defRPr>
            </a:pPr>
            <a:r>
              <a:t>la hermana 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0" y="2926080"/>
            <a:ext cx="5029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200" b="0">
                <a:solidFill>
                  <a:srgbClr val="888888"/>
                </a:solidFill>
                <a:latin typeface="Arial"/>
              </a:defRPr>
            </a:pPr>
            <a:r>
              <a:t>___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840480"/>
            <a:ext cx="5029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200" b="1">
                <a:solidFill>
                  <a:srgbClr val="C41E3A"/>
                </a:solidFill>
                <a:latin typeface="Arial"/>
              </a:defRPr>
            </a:pPr>
            <a:r>
              <a:t>el abuelo 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0" y="3840480"/>
            <a:ext cx="5029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200" b="0">
                <a:solidFill>
                  <a:srgbClr val="888888"/>
                </a:solidFill>
                <a:latin typeface="Arial"/>
              </a:defRPr>
            </a:pPr>
            <a:r>
              <a:t>___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5943600"/>
            <a:ext cx="11274552" cy="548640"/>
          </a:xfrm>
          <a:prstGeom prst="rect">
            <a:avLst/>
          </a:prstGeom>
          <a:solidFill>
            <a:srgbClr val="FDF2F4"/>
          </a:solidFill>
          <a:ln>
            <a:solidFill>
              <a:srgbClr val="C41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605332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C41E3A"/>
                </a:solidFill>
                <a:latin typeface="Arial"/>
              </a:defRPr>
            </a:pPr>
            <a:r>
              <a:t>📝 AB-02a: Aufgabe 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Spanisch Klasse 7 · LP-02a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6601968"/>
            <a:ext cx="457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Arial"/>
              </a:defRPr>
            </a:pPr>
            <a:r>
              <a:t>La familia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6601968"/>
            <a:ext cx="2743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555555"/>
                </a:solidFill>
                <a:latin typeface="Arial"/>
              </a:defRPr>
            </a:pPr>
            <a:r>
              <a:t>Sequenz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C41E3A"/>
                </a:solidFill>
                <a:latin typeface="Arial"/>
              </a:defRPr>
            </a:pPr>
            <a:r>
              <a:t>📋 Zusammenfassung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1">
                <a:solidFill>
                  <a:srgbClr val="C41E3A"/>
                </a:solidFill>
                <a:latin typeface="Arial"/>
              </a:defRPr>
            </a:pPr>
            <a:r>
              <a:t>Vokabeln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011680"/>
            <a:ext cx="4846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0">
                <a:solidFill>
                  <a:srgbClr val="222222"/>
                </a:solidFill>
                <a:latin typeface="Arial"/>
              </a:defRPr>
            </a:pPr>
            <a:r>
              <a:t>•  padre/madre – Vater/Mutter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560320"/>
            <a:ext cx="4846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0">
                <a:solidFill>
                  <a:srgbClr val="222222"/>
                </a:solidFill>
                <a:latin typeface="Arial"/>
              </a:defRPr>
            </a:pPr>
            <a:r>
              <a:t>•  hijo/hija – Sohn/Tochter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108960"/>
            <a:ext cx="4846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0">
                <a:solidFill>
                  <a:srgbClr val="222222"/>
                </a:solidFill>
                <a:latin typeface="Arial"/>
              </a:defRPr>
            </a:pPr>
            <a:r>
              <a:t>•  hermano/a – Bruder/Schwester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146304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1">
                <a:solidFill>
                  <a:srgbClr val="C41E3A"/>
                </a:solidFill>
                <a:latin typeface="Arial"/>
              </a:defRPr>
            </a:pPr>
            <a:r>
              <a:t>Grammatik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2011680"/>
            <a:ext cx="4846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0">
                <a:solidFill>
                  <a:srgbClr val="222222"/>
                </a:solidFill>
                <a:latin typeface="Arial"/>
              </a:defRPr>
            </a:pPr>
            <a:r>
              <a:t>•  abuelo/a – Opa/Oma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2560320"/>
            <a:ext cx="4846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0">
                <a:solidFill>
                  <a:srgbClr val="222222"/>
                </a:solidFill>
                <a:latin typeface="Arial"/>
              </a:defRPr>
            </a:pPr>
            <a:r>
              <a:t>•  tío/tía – Onkel/Tante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3108960"/>
            <a:ext cx="4846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0">
                <a:solidFill>
                  <a:srgbClr val="222222"/>
                </a:solidFill>
                <a:latin typeface="Arial"/>
              </a:defRPr>
            </a:pPr>
            <a:r>
              <a:t>•  primo/a – Cousin/e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Spanisch Klasse 7 · LP-02a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6601968"/>
            <a:ext cx="457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Arial"/>
              </a:defRPr>
            </a:pPr>
            <a:r>
              <a:t>La familia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6601968"/>
            <a:ext cx="2743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555555"/>
                </a:solidFill>
                <a:latin typeface="Arial"/>
              </a:defRPr>
            </a:pPr>
            <a:r>
              <a:t>Sequenz 2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40080"/>
            <a:ext cx="1828800" cy="457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713231"/>
            <a:ext cx="1645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rial"/>
              </a:defRPr>
            </a:pPr>
            <a:r>
              <a:t>HAUSAUFGABE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28016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C41E3A"/>
                </a:solidFill>
                <a:latin typeface="Arial"/>
              </a:defRPr>
            </a:pPr>
            <a:r>
              <a:t>📚 Para casa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103120"/>
            <a:ext cx="457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400" b="1">
                <a:solidFill>
                  <a:srgbClr val="2A7A4B"/>
                </a:solidFill>
                <a:latin typeface="Arial"/>
              </a:defRPr>
            </a:pPr>
            <a: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2103120"/>
            <a:ext cx="10058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Familienvokabeln auswendig lernen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926079"/>
            <a:ext cx="457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400" b="1">
                <a:solidFill>
                  <a:srgbClr val="2A7A4B"/>
                </a:solidFill>
                <a:latin typeface="Arial"/>
              </a:defRPr>
            </a:pPr>
            <a: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926079"/>
            <a:ext cx="10058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Deinen Stammbaum auf Spanisch zeichnen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749039"/>
            <a:ext cx="457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400" b="1">
                <a:solidFill>
                  <a:srgbClr val="2A7A4B"/>
                </a:solidFill>
                <a:latin typeface="Arial"/>
              </a:defRPr>
            </a:pPr>
            <a: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8720" y="3749039"/>
            <a:ext cx="10058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AB-02a vollständig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5760720"/>
            <a:ext cx="1127455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C41E3A"/>
                </a:solidFill>
                <a:latin typeface="Arial"/>
              </a:defRPr>
            </a:pPr>
            <a:r>
              <a:t>¡Hasta luego!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