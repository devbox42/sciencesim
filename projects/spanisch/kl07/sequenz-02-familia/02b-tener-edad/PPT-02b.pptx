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45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600" b="1">
                <a:solidFill>
                  <a:srgbClr val="FFFFFF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5603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0">
                <a:solidFill>
                  <a:srgbClr val="FFCCCC"/>
                </a:solidFill>
                <a:latin typeface="Arial"/>
              </a:defRPr>
            </a:pPr>
            <a:r>
              <a:t>tener und Alter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1127455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0">
                <a:solidFill>
                  <a:srgbClr val="EEAAAA"/>
                </a:solidFill>
                <a:latin typeface="Arial"/>
              </a:defRPr>
            </a:pPr>
            <a:r>
              <a:t>Sequenz 2 · Lektion 02b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02920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Spanisch Klasse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0">
                <a:solidFill>
                  <a:srgbClr val="222222"/>
                </a:solidFill>
                <a:latin typeface="Arial"/>
              </a:defRPr>
            </a:pPr>
            <a:r>
              <a:t>🇪🇸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Lernziele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Das Verb tener konjugieren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Alter angeben (auf Spanisch!)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Zahlen 1–20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Das Verb tener (haben)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yo tengo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habe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tú tienes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du hast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él/ella tiene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er/sie 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Achtung: Stammwechsel e→ie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tener: Plural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nosotros tenemos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wir haben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vosotros tenéis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ihr habt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65760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ellos tienen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749039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sie haben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📝 Alter angeben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¿Cuántos años tienes?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5448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Wie alt bist du?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560320"/>
            <a:ext cx="5029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C41E3A"/>
                </a:solidFill>
                <a:latin typeface="Arial"/>
              </a:defRPr>
            </a:pPr>
            <a:r>
              <a:t>Tengo doce años.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651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555555"/>
                </a:solidFill>
                <a:latin typeface="Arial"/>
              </a:defRPr>
            </a:pPr>
            <a:r>
              <a:t>Ich bin 12 (Jahre alt).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5029200"/>
            <a:ext cx="11274552" cy="1097280"/>
          </a:xfrm>
          <a:prstGeom prst="rect">
            <a:avLst/>
          </a:prstGeom>
          <a:solidFill>
            <a:srgbClr val="FFF8F0"/>
          </a:solidFill>
          <a:ln>
            <a:solidFill>
              <a:srgbClr val="B3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0">
                <a:solidFill>
                  <a:srgbClr val="222222"/>
                </a:solidFill>
                <a:latin typeface="Arial"/>
              </a:defRPr>
            </a:pPr>
            <a:r>
              <a:t>💡 Spanisch: Man "HAT" Jahre!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Zahlen 1–10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uno, dos, tres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1, 2, 3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cuatro, cinco, seis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4, 5, 6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siete, ocho, nueve, diez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7, 8, 9, 10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AB-02b: Kasten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Zahlen 11–20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11274552" cy="59436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Spanisch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48132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rial"/>
              </a:defRPr>
            </a:pPr>
            <a:r>
              <a:t>Deutsch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once, doce, trece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07568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11, 12, 13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11274552" cy="594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catorce, quince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267004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14, 15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dieciséis ... veinte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64408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16 ... 20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AB-02b: Kasten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Dialog: Alter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¿Cuántos años tienes?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Tengo trece años. ¿Y tú?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2608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Yo tengo doce años.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6576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– Mi hermana tiene quince años.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tener ergänzen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Yo ___ 13 años.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(habe)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Mi hermano ___ 10 años.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(hat)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Nosotros ___ un perro.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(haben)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AB-02b: Aufgabe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Yo tengo 13 años.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Mi hermano tiene 10 años.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Nosotros tenemos un perro.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ÜBUNG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✏️ Übung: Zahlen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12 =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15 =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9260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1">
                <a:solidFill>
                  <a:srgbClr val="C41E3A"/>
                </a:solidFill>
                <a:latin typeface="Arial"/>
              </a:defRPr>
            </a:pPr>
            <a:r>
              <a:t>20 =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8404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200" b="0">
                <a:solidFill>
                  <a:srgbClr val="888888"/>
                </a:solidFill>
                <a:latin typeface="Arial"/>
              </a:defRPr>
            </a:pPr>
            <a:r>
              <a:t>___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43600"/>
            <a:ext cx="11274552" cy="548640"/>
          </a:xfrm>
          <a:prstGeom prst="rect">
            <a:avLst/>
          </a:prstGeom>
          <a:solidFill>
            <a:srgbClr val="FDF2F4"/>
          </a:solidFill>
          <a:ln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0533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C41E3A"/>
                </a:solidFill>
                <a:latin typeface="Arial"/>
              </a:defRPr>
            </a:pPr>
            <a:r>
              <a:t>📝 AB-02b: Aufgabe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2A7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LÖSUNG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✅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01168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doce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310896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quince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C41E3A"/>
                </a:solidFill>
                <a:latin typeface="Arial"/>
              </a:defRPr>
            </a:pPr>
            <a: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4206240"/>
            <a:ext cx="5029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veinte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📋 Zusammenfassung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Vokabeln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tengo, tienes, tiene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tenemos, tenéis, tienen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¿Cuántos años tienes?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1">
                <a:solidFill>
                  <a:srgbClr val="C41E3A"/>
                </a:solidFill>
                <a:latin typeface="Arial"/>
              </a:defRPr>
            </a:pPr>
            <a:r>
              <a:t>Grammatik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1-10: uno...diez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56032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11-15: once...quince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108960"/>
            <a:ext cx="4846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b="0">
                <a:solidFill>
                  <a:srgbClr val="222222"/>
                </a:solidFill>
                <a:latin typeface="Arial"/>
              </a:defRPr>
            </a:pPr>
            <a:r>
              <a:t>•  16-20: dieciséis...veinte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rial"/>
              </a:defRPr>
            </a:pPr>
            <a:r>
              <a:t>Spanisch Klasse 7 · LP-02b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601968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555555"/>
                </a:solidFill>
                <a:latin typeface="Arial"/>
              </a:defRPr>
            </a:pPr>
            <a:r>
              <a:t>Tengo 12 años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601968"/>
            <a:ext cx="2743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555555"/>
                </a:solidFill>
                <a:latin typeface="Arial"/>
              </a:defRPr>
            </a:pPr>
            <a:r>
              <a:t>Sequenz 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0080"/>
            <a:ext cx="1828800" cy="457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713231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HAUSAUFGABE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80160"/>
            <a:ext cx="112745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200" b="1">
                <a:solidFill>
                  <a:srgbClr val="C41E3A"/>
                </a:solidFill>
                <a:latin typeface="Arial"/>
              </a:defRPr>
            </a:pPr>
            <a:r>
              <a:t>📚 Para casa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10312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tener-Formen auswendig lernen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7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2607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Zahlen 1–20 üben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457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2A7A4B"/>
                </a:solidFill>
                <a:latin typeface="Arial"/>
              </a:defRPr>
            </a:pPr>
            <a: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749039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222222"/>
                </a:solidFill>
                <a:latin typeface="Arial"/>
              </a:defRPr>
            </a:pPr>
            <a:r>
              <a:t>Alter deiner Familie aufschreiben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C41E3A"/>
                </a:solidFill>
                <a:latin typeface="Arial"/>
              </a:defRPr>
            </a:pPr>
            <a:r>
              <a:t>¡Hasta luego!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